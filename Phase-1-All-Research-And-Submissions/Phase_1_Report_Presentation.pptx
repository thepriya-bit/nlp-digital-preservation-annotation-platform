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82880" cy="4114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4000" b="1" i="0">
                <a:solidFill>
                  <a:srgbClr val="0F2043"/>
                </a:solidFill>
                <a:latin typeface="Segoe UI"/>
              </a:defRPr>
            </a:pPr>
            <a:r>
              <a:t>NLP and Digital Preservation</a:t>
            </a:r>
            <a:br/>
            <a:r>
              <a:t>Annotation Platform</a:t>
            </a:r>
          </a:p>
          <a:p>
            <a:pPr algn="l">
              <a:defRPr sz="2200" b="0" i="1">
                <a:solidFill>
                  <a:srgbClr val="008080"/>
                </a:solidFill>
                <a:latin typeface="Segoe UI"/>
              </a:defRPr>
            </a:pPr>
            <a:r>
              <a:t>Phase 1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008080"/>
                </a:solidFill>
                <a:latin typeface="Segoe UI"/>
              </a:defRPr>
            </a:pPr>
            <a:r>
              <a:t>TEAM MEMBERS</a:t>
            </a:r>
          </a:p>
          <a:p>
            <a:pPr algn="l">
              <a:defRPr sz="1600" b="0" i="0">
                <a:solidFill>
                  <a:srgbClr val="4A5568"/>
                </a:solidFill>
                <a:latin typeface="Segoe UI"/>
              </a:defRPr>
            </a:pPr>
            <a:r>
              <a:t>Riddhiman Puzari</a:t>
            </a:r>
          </a:p>
          <a:p>
            <a:pPr algn="l">
              <a:defRPr sz="1600" b="0" i="0">
                <a:solidFill>
                  <a:srgbClr val="4A5568"/>
                </a:solidFill>
                <a:latin typeface="Segoe UI"/>
              </a:defRPr>
            </a:pPr>
            <a:r>
              <a:t>Priya Saikia</a:t>
            </a:r>
          </a:p>
          <a:p>
            <a:pPr algn="l">
              <a:defRPr sz="1600" b="0" i="0">
                <a:solidFill>
                  <a:srgbClr val="4A5568"/>
                </a:solidFill>
                <a:latin typeface="Segoe UI"/>
              </a:defRPr>
            </a:pPr>
            <a:r>
              <a:t>Nandita 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77780" y="38404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008080"/>
                </a:solidFill>
                <a:latin typeface="Segoe UI"/>
              </a:defRPr>
            </a:pPr>
            <a:r>
              <a:t>TARGET LANGUAGES</a:t>
            </a:r>
          </a:p>
          <a:p>
            <a:pPr algn="l">
              <a:defRPr sz="1600" b="0" i="0">
                <a:solidFill>
                  <a:srgbClr val="4A5568"/>
                </a:solidFill>
                <a:latin typeface="Segoe UI"/>
              </a:defRPr>
            </a:pPr>
            <a:r>
              <a:t>Assamese (Primary)</a:t>
            </a:r>
          </a:p>
          <a:p>
            <a:pPr algn="l">
              <a:defRPr sz="1600" b="0" i="0">
                <a:solidFill>
                  <a:srgbClr val="4A5568"/>
                </a:solidFill>
                <a:latin typeface="Segoe UI"/>
              </a:defRPr>
            </a:pPr>
            <a:r>
              <a:t>Bodo</a:t>
            </a:r>
          </a:p>
          <a:p>
            <a:pPr algn="l">
              <a:defRPr sz="1600" b="0" i="0">
                <a:solidFill>
                  <a:srgbClr val="4A5568"/>
                </a:solidFill>
                <a:latin typeface="Segoe UI"/>
              </a:defRPr>
            </a:pPr>
            <a:r>
              <a:t>Karbi</a:t>
            </a:r>
          </a:p>
          <a:p>
            <a:pPr algn="l">
              <a:defRPr sz="1600" b="0" i="0">
                <a:solidFill>
                  <a:srgbClr val="4A5568"/>
                </a:solidFill>
                <a:latin typeface="Segoe UI"/>
              </a:defRPr>
            </a:pPr>
            <a:r>
              <a:t>Dimasa etc.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3600" b="1" i="0">
                <a:solidFill>
                  <a:srgbClr val="0F2043"/>
                </a:solidFill>
                <a:latin typeface="Segoe UI"/>
              </a:defRPr>
            </a:pPr>
            <a:r>
              <a:t>1. Comparative Study of Existing Platforms</a:t>
            </a:r>
          </a:p>
          <a:p>
            <a:pPr algn="l">
              <a:defRPr sz="1800" b="0" i="0">
                <a:solidFill>
                  <a:srgbClr val="4A5568"/>
                </a:solidFill>
                <a:latin typeface="Segoe UI"/>
              </a:defRPr>
            </a:pPr>
            <a:r>
              <a:t>Mozilla Common Voice, Bhashini (BhashaDaan), and Xobdo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1.1 Mozilla Common Voice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Community-Led: </a:t>
            </a:r>
            <a:r>
              <a:rPr sz="1400" b="0">
                <a:solidFill>
                  <a:srgbClr val="4A5568"/>
                </a:solidFill>
                <a:latin typeface="Segoe UI"/>
              </a:rPr>
              <a:t>Gold standard for open-source, community-led data creation.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Open Access: </a:t>
            </a:r>
            <a:r>
              <a:rPr sz="1400" b="0">
                <a:solidFill>
                  <a:srgbClr val="4A5568"/>
                </a:solidFill>
                <a:latin typeface="Segoe UI"/>
              </a:rPr>
              <a:t>Allows anyone to download complete datasets for research and commercial applications.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Contribution Modes: </a:t>
            </a:r>
            <a:r>
              <a:rPr sz="1400" b="0">
                <a:solidFill>
                  <a:srgbClr val="4A5568"/>
                </a:solidFill>
                <a:latin typeface="Segoe UI"/>
              </a:rPr>
              <a:t>Collects language data via three distinct modes: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Scripted Speech: </a:t>
            </a:r>
            <a:r>
              <a:rPr sz="1400" b="0">
                <a:solidFill>
                  <a:srgbClr val="4A5568"/>
                </a:solidFill>
                <a:latin typeface="Segoe UI"/>
              </a:rPr>
              <a:t>Reading pre-approved sentences aloud.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Spontaneous Speech: </a:t>
            </a:r>
            <a:r>
              <a:rPr sz="1400" b="0">
                <a:solidFill>
                  <a:srgbClr val="4A5568"/>
                </a:solidFill>
                <a:latin typeface="Segoe UI"/>
              </a:rPr>
              <a:t>Responding to prompts (ideal for oral-first languages).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Language Text: </a:t>
            </a:r>
            <a:r>
              <a:rPr sz="1400" b="0">
                <a:solidFill>
                  <a:srgbClr val="4A5568"/>
                </a:solidFill>
                <a:latin typeface="Segoe UI"/>
              </a:rPr>
              <a:t>Submitting public-domain text and reviewing transcriptions.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990472"/>
            <a:ext cx="5120640" cy="315137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36192"/>
            <a:ext cx="5029200" cy="30599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Mozilla Common Voice — Speak Mode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Speak Interface: </a:t>
            </a:r>
            <a:r>
              <a:rPr sz="1400" b="0">
                <a:solidFill>
                  <a:srgbClr val="4A5568"/>
                </a:solidFill>
                <a:latin typeface="Segoe UI"/>
              </a:rPr>
              <a:t>This mode collects 'Scripted Speech.' Users read specific, highlighted sentences aloud.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User Action: </a:t>
            </a:r>
            <a:r>
              <a:rPr sz="1400" b="0">
                <a:solidFill>
                  <a:srgbClr val="4A5568"/>
                </a:solidFill>
                <a:latin typeface="Segoe UI"/>
              </a:rPr>
              <a:t>Volunteers press a record button, speak, and save. The UI is designed to be highly intuitive and responsive.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Spontaneous speech: </a:t>
            </a:r>
            <a:r>
              <a:rPr sz="1400" b="0">
                <a:solidFill>
                  <a:srgbClr val="4A5568"/>
                </a:solidFill>
                <a:latin typeface="Segoe UI"/>
              </a:rPr>
              <a:t>The project supports spontaneous responses to prompts, ensuring natural speech and colloquial nuances are recorded.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Review and Submit: </a:t>
            </a:r>
            <a:r>
              <a:rPr sz="1400" b="0">
                <a:solidFill>
                  <a:srgbClr val="4A5568"/>
                </a:solidFill>
                <a:latin typeface="Segoe UI"/>
              </a:rPr>
              <a:t>Volunteers can review, rerecord, or submit their voice donations seamlessly.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2750119"/>
            <a:ext cx="3200400" cy="1632081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795839"/>
            <a:ext cx="3108960" cy="154064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2040295"/>
            <a:ext cx="3200400" cy="3051729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086015"/>
            <a:ext cx="3108960" cy="29602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Mozilla Common Voice — Listen &amp; Write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Listen Module: </a:t>
            </a:r>
            <a:r>
              <a:rPr sz="1400" b="0">
                <a:solidFill>
                  <a:srgbClr val="4A5568"/>
                </a:solidFill>
                <a:latin typeface="Segoe UI"/>
              </a:rPr>
              <a:t>Quality assurance through peer validation. Users listen to voice clips and verify they match the text.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Validation Flow: </a:t>
            </a:r>
            <a:r>
              <a:rPr sz="1400" b="0">
                <a:solidFill>
                  <a:srgbClr val="4A5568"/>
                </a:solidFill>
                <a:latin typeface="Segoe UI"/>
              </a:rPr>
              <a:t>Requires a simple yes/no response to validate the accent, pronunciation, and clarity of the recording.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Write Module: </a:t>
            </a:r>
            <a:r>
              <a:rPr sz="1400" b="0">
                <a:solidFill>
                  <a:srgbClr val="4A5568"/>
                </a:solidFill>
                <a:latin typeface="Segoe UI"/>
              </a:rPr>
              <a:t>Allows text corpus donations. Volunteers write or share public-domain prompts.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Reviewing Text: </a:t>
            </a:r>
            <a:r>
              <a:rPr sz="1400" b="0">
                <a:solidFill>
                  <a:srgbClr val="4A5568"/>
                </a:solidFill>
                <a:latin typeface="Segoe UI"/>
              </a:rPr>
              <a:t>Includes reviewing text inputs to maintain high-quality text for subsequent voice donation cycles.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371601"/>
            <a:ext cx="3200400" cy="384232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50355"/>
            <a:ext cx="3108960" cy="363555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371600"/>
            <a:ext cx="3200400" cy="3842325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325" y="1450355"/>
            <a:ext cx="3108960" cy="37269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Mozilla Common Voice — Assamese Dataset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Progress Metrics: </a:t>
            </a:r>
            <a:r>
              <a:rPr sz="1400" b="0">
                <a:solidFill>
                  <a:srgbClr val="4A5568"/>
                </a:solidFill>
                <a:latin typeface="Segoe UI"/>
              </a:rPr>
              <a:t>Shows total hours recorded, validated hours, and progress towards speech recognition utility.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Demographics: </a:t>
            </a:r>
            <a:r>
              <a:rPr sz="1400" b="0">
                <a:solidFill>
                  <a:srgbClr val="4A5568"/>
                </a:solidFill>
                <a:latin typeface="Segoe UI"/>
              </a:rPr>
              <a:t>Volunteers can track the overall language status and demographic breakdown (gender, age, accent).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Community Need: </a:t>
            </a:r>
            <a:r>
              <a:rPr sz="1400" b="0">
                <a:solidFill>
                  <a:srgbClr val="4A5568"/>
                </a:solidFill>
                <a:latin typeface="Segoe UI"/>
              </a:rPr>
              <a:t>Assamese remains a low-resource language requiring active community mobilization.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Value of Data: </a:t>
            </a:r>
            <a:r>
              <a:rPr sz="1400" b="0">
                <a:solidFill>
                  <a:srgbClr val="4A5568"/>
                </a:solidFill>
                <a:latin typeface="Segoe UI"/>
              </a:rPr>
              <a:t>Highlights how open speech data provides a foundation for regional AI models.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23318"/>
            <a:ext cx="5394960" cy="41149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77924"/>
            <a:ext cx="5394960" cy="3776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1.2 Bhashini — BhashaDaan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Mission Goal: </a:t>
            </a:r>
            <a:r>
              <a:rPr sz="1400" b="0">
                <a:solidFill>
                  <a:srgbClr val="4A5568"/>
                </a:solidFill>
                <a:latin typeface="Segoe UI"/>
              </a:rPr>
              <a:t>India's National Language Translation Mission aimed at bridging the digital divide.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BhashaDaan: </a:t>
            </a:r>
            <a:r>
              <a:rPr sz="1400" b="0">
                <a:solidFill>
                  <a:srgbClr val="4A5568"/>
                </a:solidFill>
                <a:latin typeface="Segoe UI"/>
              </a:rPr>
              <a:t>Crowdsourcing initiative of Bhashini, empowering citizens to donate voice and text data.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Gamified Tasks: </a:t>
            </a:r>
            <a:r>
              <a:rPr sz="1400" b="0">
                <a:solidFill>
                  <a:srgbClr val="4A5568"/>
                </a:solidFill>
                <a:latin typeface="Segoe UI"/>
              </a:rPr>
              <a:t>Organized into four distinct tasks representing the data lifecycle: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Bolo India (Speak): </a:t>
            </a:r>
            <a:r>
              <a:rPr sz="1400" b="0">
                <a:solidFill>
                  <a:srgbClr val="4A5568"/>
                </a:solidFill>
                <a:latin typeface="Segoe UI"/>
              </a:rPr>
              <a:t>Donate voice recordings by reading text.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Likho India (Write): </a:t>
            </a:r>
            <a:r>
              <a:rPr sz="1400" b="0">
                <a:solidFill>
                  <a:srgbClr val="4A5568"/>
                </a:solidFill>
                <a:latin typeface="Segoe UI"/>
              </a:rPr>
              <a:t>Translate or transcribe text inputs.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Suno India (Listen): </a:t>
            </a:r>
            <a:r>
              <a:rPr sz="1400" b="0">
                <a:solidFill>
                  <a:srgbClr val="4A5568"/>
                </a:solidFill>
                <a:latin typeface="Segoe UI"/>
              </a:rPr>
              <a:t>Listen and validate speech data.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Dekho India (See): </a:t>
            </a:r>
            <a:r>
              <a:rPr sz="1400" b="0">
                <a:solidFill>
                  <a:srgbClr val="4A5568"/>
                </a:solidFill>
                <a:latin typeface="Segoe UI"/>
              </a:rPr>
              <a:t>Tag, label or transcribe images.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3485" y="1566640"/>
            <a:ext cx="5692876" cy="3331201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9413"/>
            <a:ext cx="5476340" cy="3080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Bhashini — Likho India Translation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Translation Board: </a:t>
            </a:r>
            <a:r>
              <a:rPr sz="1400" b="0">
                <a:solidFill>
                  <a:srgbClr val="4A5568"/>
                </a:solidFill>
                <a:latin typeface="Segoe UI"/>
              </a:rPr>
              <a:t>Direct translation interface where contributors translate prompts from source (e.g. English) to target languages.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Virtual Keyboard: </a:t>
            </a:r>
            <a:r>
              <a:rPr sz="1400" b="0">
                <a:solidFill>
                  <a:srgbClr val="4A5568"/>
                </a:solidFill>
                <a:latin typeface="Segoe UI"/>
              </a:rPr>
              <a:t>Integrates a specialized Assamese virtual keyboard directly in the browser.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Accessibility: </a:t>
            </a:r>
            <a:r>
              <a:rPr sz="1400" b="0">
                <a:solidFill>
                  <a:srgbClr val="4A5568"/>
                </a:solidFill>
                <a:latin typeface="Segoe UI"/>
              </a:rPr>
              <a:t>Allows contribution from devices that lack native regional script configurations.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Text Validation: </a:t>
            </a:r>
            <a:r>
              <a:rPr sz="1400" b="0">
                <a:solidFill>
                  <a:srgbClr val="4A5568"/>
                </a:solidFill>
                <a:latin typeface="Segoe UI"/>
              </a:rPr>
              <a:t>Supports standard text formatting and validation checks prior to final submission.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003107"/>
            <a:ext cx="5486400" cy="3126105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48827"/>
            <a:ext cx="5394960" cy="30346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Bhashini — Vatika (Data Marketplace)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Vatika Ecosystem: </a:t>
            </a:r>
            <a:r>
              <a:rPr sz="1400" b="0">
                <a:solidFill>
                  <a:srgbClr val="4A5568"/>
                </a:solidFill>
                <a:latin typeface="Segoe UI"/>
              </a:rPr>
              <a:t>A centralized marketplace hosting verified models and datasets for Indian regional languages.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Distribution Model: </a:t>
            </a:r>
            <a:r>
              <a:rPr sz="1400" b="0">
                <a:solidFill>
                  <a:srgbClr val="4A5568"/>
                </a:solidFill>
                <a:latin typeface="Segoe UI"/>
              </a:rPr>
              <a:t>Serves as an institutional model for distributing processed datasets.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Stakeholder Categories: </a:t>
            </a:r>
            <a:r>
              <a:rPr sz="1400" b="0">
                <a:solidFill>
                  <a:srgbClr val="4A5568"/>
                </a:solidFill>
                <a:latin typeface="Segoe UI"/>
              </a:rPr>
              <a:t>Supports five core stakeholder groups in the language ecosystem: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Citizens: </a:t>
            </a:r>
            <a:r>
              <a:rPr sz="1400" b="0">
                <a:solidFill>
                  <a:srgbClr val="4A5568"/>
                </a:solidFill>
                <a:latin typeface="Segoe UI"/>
              </a:rPr>
              <a:t>Individuals donating data and using AI tools.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Researchers: </a:t>
            </a:r>
            <a:r>
              <a:rPr sz="1400" b="0">
                <a:solidFill>
                  <a:srgbClr val="4A5568"/>
                </a:solidFill>
                <a:latin typeface="Segoe UI"/>
              </a:rPr>
              <a:t>Accessing large corpora for academic/linguistic studies.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Organizations: </a:t>
            </a:r>
            <a:r>
              <a:rPr sz="1400" b="0">
                <a:solidFill>
                  <a:srgbClr val="4A5568"/>
                </a:solidFill>
                <a:latin typeface="Segoe UI"/>
              </a:rPr>
              <a:t>Government agencies and non-profits sharing localized content.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Startups: </a:t>
            </a:r>
            <a:r>
              <a:rPr sz="1400" b="0">
                <a:solidFill>
                  <a:srgbClr val="4A5568"/>
                </a:solidFill>
                <a:latin typeface="Segoe UI"/>
              </a:rPr>
              <a:t>Developing localized consumer applications and products.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Enterprises: </a:t>
            </a:r>
            <a:r>
              <a:rPr sz="1400" b="0">
                <a:solidFill>
                  <a:srgbClr val="4A5568"/>
                </a:solidFill>
                <a:latin typeface="Segoe UI"/>
              </a:rPr>
              <a:t>Scaling large language models and speech services.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105977"/>
            <a:ext cx="5120640" cy="2920365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51697"/>
            <a:ext cx="50292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1.3 Xobdo — Assamese Community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Core Mission: </a:t>
            </a:r>
            <a:r>
              <a:rPr sz="1400" b="0">
                <a:solidFill>
                  <a:srgbClr val="4A5568"/>
                </a:solidFill>
                <a:latin typeface="Segoe UI"/>
              </a:rPr>
              <a:t>Community-driven dictionary and language resource platform for Assamese and other North-East languages.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Resource Focus: </a:t>
            </a:r>
            <a:r>
              <a:rPr sz="1400" b="0">
                <a:solidFill>
                  <a:srgbClr val="4A5568"/>
                </a:solidFill>
                <a:latin typeface="Segoe UI"/>
              </a:rPr>
              <a:t>Focuses on structural digital resources (vocabularies, definitions, and spelling rules) rather than raw speech data.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Verification Model: </a:t>
            </a:r>
            <a:r>
              <a:rPr sz="1400" b="0">
                <a:solidFill>
                  <a:srgbClr val="4A5568"/>
                </a:solidFill>
                <a:latin typeface="Segoe UI"/>
              </a:rPr>
              <a:t>Integrates community inputs with an active editorial board to maintain accuracy.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Reference Platform: </a:t>
            </a:r>
            <a:r>
              <a:rPr sz="1400" b="0">
                <a:solidFill>
                  <a:srgbClr val="4A5568"/>
                </a:solidFill>
                <a:latin typeface="Segoe UI"/>
              </a:rPr>
              <a:t> Serves as a reference platform for Assamese digital preservation efforts since its inception.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760024"/>
            <a:ext cx="5120640" cy="361227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05744"/>
            <a:ext cx="5029200" cy="3520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Xobdo — AI-Litikai Language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AI-Litikai Initiative: </a:t>
            </a:r>
            <a:r>
              <a:rPr sz="1400" b="0">
                <a:solidFill>
                  <a:srgbClr val="4A5568"/>
                </a:solidFill>
                <a:latin typeface="Segoe UI"/>
              </a:rPr>
              <a:t>An initiative by XOBDO deploying practical applications using their digital lexicon.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Available Tools: </a:t>
            </a:r>
            <a:r>
              <a:rPr sz="1400" b="0">
                <a:solidFill>
                  <a:srgbClr val="4A5568"/>
                </a:solidFill>
                <a:latin typeface="Segoe UI"/>
              </a:rPr>
              <a:t>Provides essential NLP tools for low-resource languages: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Spell Checker: </a:t>
            </a:r>
            <a:r>
              <a:rPr sz="1400" b="0">
                <a:solidFill>
                  <a:srgbClr val="4A5568"/>
                </a:solidFill>
                <a:latin typeface="Segoe UI"/>
              </a:rPr>
              <a:t>Ensuring lexical correctness in text input.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Text-to-Speech (TTS): </a:t>
            </a:r>
            <a:r>
              <a:rPr sz="1400" b="0">
                <a:solidFill>
                  <a:srgbClr val="4A5568"/>
                </a:solidFill>
                <a:latin typeface="Segoe UI"/>
              </a:rPr>
              <a:t>Synthesized audio output for digital texts.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Speech-to-Text: </a:t>
            </a:r>
            <a:r>
              <a:rPr sz="1400" b="0">
                <a:solidFill>
                  <a:srgbClr val="4A5568"/>
                </a:solidFill>
                <a:latin typeface="Segoe UI"/>
              </a:rPr>
              <a:t>Voice transcription for Assamese (SrutoLipi).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Transliteration: </a:t>
            </a:r>
            <a:r>
              <a:rPr sz="1400" b="0">
                <a:solidFill>
                  <a:srgbClr val="4A5568"/>
                </a:solidFill>
                <a:latin typeface="Segoe UI"/>
              </a:rPr>
              <a:t>Converting script phonetics to romanized text.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• Optical Character Recognition (OCR): </a:t>
            </a:r>
            <a:r>
              <a:rPr sz="1400" b="0">
                <a:solidFill>
                  <a:srgbClr val="4A5568"/>
                </a:solidFill>
                <a:latin typeface="Segoe UI"/>
              </a:rPr>
              <a:t>Extracting text from scanned regional documents.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07257" y="1325880"/>
            <a:ext cx="2816284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57" y="1371600"/>
            <a:ext cx="2770564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Xobdo — Speech-to-Text (SrutoLipi)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SrutoLipi System: </a:t>
            </a:r>
            <a:r>
              <a:rPr sz="1400" b="0">
                <a:solidFill>
                  <a:srgbClr val="4A5568"/>
                </a:solidFill>
                <a:latin typeface="Segoe UI"/>
              </a:rPr>
              <a:t>Speech-to-Text translation engine built specifically for Assamese phonetics and syntax.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Functional Goal: </a:t>
            </a:r>
            <a:r>
              <a:rPr sz="1400" b="0">
                <a:solidFill>
                  <a:srgbClr val="4A5568"/>
                </a:solidFill>
                <a:latin typeface="Segoe UI"/>
              </a:rPr>
              <a:t>Converts spoken regional inputs directly into typed Assamese characters.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Dialect Support: </a:t>
            </a:r>
            <a:r>
              <a:rPr sz="1400" b="0">
                <a:solidFill>
                  <a:srgbClr val="4A5568"/>
                </a:solidFill>
                <a:latin typeface="Segoe UI"/>
              </a:rPr>
              <a:t>Aims to support diverse local dialects and real-world background noise scenarios.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Downstream Impact: </a:t>
            </a:r>
            <a:r>
              <a:rPr sz="1400" b="0">
                <a:solidFill>
                  <a:srgbClr val="4A5568"/>
                </a:solidFill>
                <a:latin typeface="Segoe UI"/>
              </a:rPr>
              <a:t>Demonstrates how community-annotated speech and transcriptions yield downstream AI tools.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2784591"/>
            <a:ext cx="3200400" cy="156313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830311"/>
            <a:ext cx="3108960" cy="14716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2886552"/>
            <a:ext cx="3200399" cy="135921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932272"/>
            <a:ext cx="3108959" cy="12677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Xobdo — Verification &amp; Key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Editorial Verification Model: </a:t>
            </a:r>
            <a:r>
              <a:rPr sz="1400" b="0">
                <a:solidFill>
                  <a:srgbClr val="4A5568"/>
                </a:solidFill>
                <a:latin typeface="Segoe UI"/>
              </a:rPr>
              <a:t>Community members submit words, meanings, or corrections, but they must undergo editor review before being published. This keeps quality high and prevents lexical pollution.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1. Community Power: </a:t>
            </a:r>
            <a:r>
              <a:rPr sz="1400" b="0">
                <a:solidFill>
                  <a:srgbClr val="4A5568"/>
                </a:solidFill>
                <a:latin typeface="Segoe UI"/>
              </a:rPr>
              <a:t>Crowdsourcing and dictionary tools can scale rapidly when backed by native community members.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2. Quality Over Quantity: </a:t>
            </a:r>
            <a:r>
              <a:rPr sz="1400" b="0">
                <a:solidFill>
                  <a:srgbClr val="4A5568"/>
                </a:solidFill>
                <a:latin typeface="Segoe UI"/>
              </a:rPr>
              <a:t>Low-resource languages require strict verification mechanisms to remain valuable for machine learning.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3. AI Readiness: </a:t>
            </a:r>
            <a:r>
              <a:rPr sz="1400" b="0">
                <a:solidFill>
                  <a:srgbClr val="4A5568"/>
                </a:solidFill>
                <a:latin typeface="Segoe UI"/>
              </a:rPr>
              <a:t>Once structured data is consolidated, functional APIs and NLP tools can be trained and released.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4. Integrated Ecosystem: </a:t>
            </a:r>
            <a:r>
              <a:rPr sz="1400" b="0">
                <a:solidFill>
                  <a:srgbClr val="4A5568"/>
                </a:solidFill>
                <a:latin typeface="Segoe UI"/>
              </a:rPr>
              <a:t>A single, integrated platform can bridge lexicography, transcriptions, and raw acoustic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1.4 Comparative Summary of Existing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Primary Focus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Verification Model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Key Takeaway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BhashaDaan (Bhashini)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Indian regional languages, government-backed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Structured review via institutional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Task-type segmentation (Bolo/Likho/Suno/Dekho) for gamified 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Mozilla Common Voice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Open-source multilingual speech datasets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Peer validation and public dataset release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Three contribution modes including spontaneous speech for oral languages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Xobdo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Community-driven dictionary &amp; language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Editor review and validation before publishing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Demonstrates how community participation can preserve regional languages while supporting AI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3600" b="1" i="0">
                <a:solidFill>
                  <a:srgbClr val="0F2043"/>
                </a:solidFill>
                <a:latin typeface="Segoe UI"/>
              </a:defRPr>
            </a:pPr>
            <a:r>
              <a:t>2. Proposed Database Schema</a:t>
            </a:r>
          </a:p>
          <a:p>
            <a:pPr algn="l">
              <a:defRPr sz="1800" b="0" i="0">
                <a:solidFill>
                  <a:srgbClr val="4A5568"/>
                </a:solidFill>
                <a:latin typeface="Segoe UI"/>
              </a:defRPr>
            </a:pPr>
            <a:r>
              <a:t>Relational Design &amp; Fine-Grained Syntax Annotation (JSONB)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2. Proposed Database Schema — Design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Relational Core: </a:t>
            </a:r>
            <a:r>
              <a:rPr sz="1400" b="0">
                <a:solidFill>
                  <a:srgbClr val="4A5568"/>
                </a:solidFill>
                <a:latin typeface="Segoe UI"/>
              </a:rPr>
              <a:t>Organized around four relational core tables (Users, Raw_Phrases, Annotations, and Verifications) to ensure integrity.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JSONB Extensions: </a:t>
            </a:r>
            <a:r>
              <a:rPr sz="1400" b="0">
                <a:solidFill>
                  <a:srgbClr val="4A5568"/>
                </a:solidFill>
                <a:latin typeface="Segoe UI"/>
              </a:rPr>
              <a:t>Includes a flexible JSONB column inside Annotations to map complex syntax, morphology, and dependency relations.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Dialect-Aware: </a:t>
            </a:r>
            <a:r>
              <a:rPr sz="1400" b="0">
                <a:solidFill>
                  <a:srgbClr val="4A5568"/>
                </a:solidFill>
                <a:latin typeface="Segoe UI"/>
              </a:rPr>
              <a:t>Designed with regional dialects in mind, tracking metadata like Goalpariya, Kamrupi, and Standard Assamese.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Verification Workflow: </a:t>
            </a:r>
            <a:r>
              <a:rPr sz="1400" b="0">
                <a:solidFill>
                  <a:srgbClr val="4A5568"/>
                </a:solidFill>
                <a:latin typeface="Segoe UI"/>
              </a:rPr>
              <a:t>Features a multi-peer validation process using trust scores to auto-approve high-quality data and flag outliers.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Export-Friendly: </a:t>
            </a:r>
            <a:r>
              <a:rPr sz="1400" b="0">
                <a:solidFill>
                  <a:srgbClr val="4A5568"/>
                </a:solidFill>
                <a:latin typeface="Segoe UI"/>
              </a:rPr>
              <a:t>Enables instant, clean export for ML training: e.g., 'all Assamese-to-English translations with status=Approved and at least 3 positive votes.'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Schema — Users &amp; Raw_Phrases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 i="0">
                <a:solidFill>
                  <a:srgbClr val="0F2043"/>
                </a:solidFill>
                <a:latin typeface="Segoe UI"/>
              </a:defRPr>
            </a:pPr>
            <a:r>
              <a:t>2.1 Users Table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PK, 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Unique identifier for each contributor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username / email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Display name and login credentials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native_dialect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e.g., Kamrupi, Goalpariya, Standard Assamese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trust_score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Gamification metric based on approved submissions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 i="0">
                <a:solidFill>
                  <a:srgbClr val="0F2043"/>
                </a:solidFill>
                <a:latin typeface="Segoe UI"/>
              </a:defRPr>
            </a:pPr>
            <a:r>
              <a:t>2.2 Raw_Phrases Table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6459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phrase_id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PK, 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Unique identifier for the source sentence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text_content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The original Assamese phrase or paragraph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source_type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Literature, News, Spoken, or User-submitted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dialect_metadata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Regional variant of the source phrase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Schema — Annotations &amp; Verifications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 i="0">
                <a:solidFill>
                  <a:srgbClr val="0F2043"/>
                </a:solidFill>
                <a:latin typeface="Segoe UI"/>
              </a:defRPr>
            </a:pPr>
            <a:r>
              <a:t>2.3 Annotations Table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annotation_id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PK, 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Unique identifier for the annotation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phrase_id / user_id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FK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Links to Raw_Phrases and Users tables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task_type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Translation, Syntax Tagging, Audio Recording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JSONB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Translation text or structured POS/dependency tags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Pending, Approved, or Rejected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 i="0">
                <a:solidFill>
                  <a:srgbClr val="0F2043"/>
                </a:solidFill>
                <a:latin typeface="Segoe UI"/>
              </a:defRPr>
            </a:pPr>
            <a:r>
              <a:t>2.4 Verifications Table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6459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verification_id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PK, 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Unique identifier for the verification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annotation_id / user_id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FK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Links reviewer to target annotation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vote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+1 correct vote, -1 incorrect vote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When the verification vote was cast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2.5 Handling Complex Syntax (JSONB Payload)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Agglutinative Support: </a:t>
            </a:r>
            <a:r>
              <a:rPr sz="1400" b="0">
                <a:solidFill>
                  <a:srgbClr val="4A5568"/>
                </a:solidFill>
                <a:latin typeface="Segoe UI"/>
              </a:rPr>
              <a:t>Instead of parsing every grammatical token into individual relational database rows, XOBDO-like systems benefit from a structured content document.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Why JSONB? </a:t>
            </a:r>
            <a:r>
              <a:rPr sz="1400" b="0">
                <a:solidFill>
                  <a:srgbClr val="4A5568"/>
                </a:solidFill>
                <a:latin typeface="Segoe UI"/>
              </a:rPr>
              <a:t>Assamese grammar relies heavily on suffixes, case endings, and classifiers. A relational model splits these, losing coherence. JSONB stores them as an integrated object.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ML Preservation: </a:t>
            </a:r>
            <a:r>
              <a:rPr sz="1400" b="0">
                <a:solidFill>
                  <a:srgbClr val="4A5568"/>
                </a:solidFill>
                <a:latin typeface="Segoe UI"/>
              </a:rPr>
              <a:t>The payload preserves root, POS tag, classifier, case, and dependency head/relation for direct feeding into Machine Learning frameworks.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212080" cy="438912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0292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F2043"/>
                </a:solidFill>
                <a:latin typeface="Consolas"/>
              </a:defRPr>
            </a:pPr>
            <a:r>
              <a:rPr sz="1600" dirty="0"/>
              <a:t>[</a:t>
            </a:r>
            <a:br>
              <a:rPr sz="1600" dirty="0"/>
            </a:br>
            <a:r>
              <a:rPr sz="1600" dirty="0"/>
              <a:t>  {</a:t>
            </a:r>
            <a:br>
              <a:rPr sz="1600" dirty="0"/>
            </a:br>
            <a:r>
              <a:rPr sz="1600" dirty="0"/>
              <a:t>    "</a:t>
            </a:r>
            <a:r>
              <a:rPr sz="1600" dirty="0" err="1"/>
              <a:t>token_id</a:t>
            </a:r>
            <a:r>
              <a:rPr sz="1600" dirty="0"/>
              <a:t>": 1,</a:t>
            </a:r>
            <a:br>
              <a:rPr sz="1600" dirty="0"/>
            </a:br>
            <a:r>
              <a:rPr sz="1600" dirty="0"/>
              <a:t>    "</a:t>
            </a:r>
            <a:r>
              <a:rPr sz="1600" dirty="0" err="1"/>
              <a:t>original_word</a:t>
            </a:r>
            <a:r>
              <a:rPr sz="1600" dirty="0"/>
              <a:t>": "</a:t>
            </a:r>
            <a:r>
              <a:rPr sz="1600" dirty="0" err="1"/>
              <a:t>মানুহজনক</a:t>
            </a:r>
            <a:r>
              <a:rPr sz="1600" dirty="0"/>
              <a:t>",</a:t>
            </a:r>
            <a:br>
              <a:rPr sz="1600" dirty="0"/>
            </a:br>
            <a:r>
              <a:rPr sz="1600" dirty="0"/>
              <a:t>    "root": "</a:t>
            </a:r>
            <a:r>
              <a:rPr sz="1600" dirty="0" err="1"/>
              <a:t>মানুহ</a:t>
            </a:r>
            <a:r>
              <a:rPr sz="1600" dirty="0"/>
              <a:t>",</a:t>
            </a:r>
            <a:br>
              <a:rPr sz="1600" dirty="0"/>
            </a:br>
            <a:r>
              <a:rPr sz="1600" dirty="0"/>
              <a:t>    "</a:t>
            </a:r>
            <a:r>
              <a:rPr sz="1600" dirty="0" err="1"/>
              <a:t>pos_tag</a:t>
            </a:r>
            <a:r>
              <a:rPr sz="1600" dirty="0"/>
              <a:t>": "NOUN",</a:t>
            </a:r>
            <a:br>
              <a:rPr sz="1600" dirty="0"/>
            </a:br>
            <a:r>
              <a:rPr sz="1600" dirty="0"/>
              <a:t>    "morphology": {</a:t>
            </a:r>
            <a:br>
              <a:rPr sz="1600" dirty="0"/>
            </a:br>
            <a:r>
              <a:rPr sz="1600" dirty="0"/>
              <a:t>      "classifier": "</a:t>
            </a:r>
            <a:r>
              <a:rPr sz="1600" dirty="0" err="1"/>
              <a:t>জন</a:t>
            </a:r>
            <a:r>
              <a:rPr sz="1600" dirty="0"/>
              <a:t>",</a:t>
            </a:r>
            <a:br>
              <a:rPr sz="1600" dirty="0"/>
            </a:br>
            <a:r>
              <a:rPr sz="1600" dirty="0"/>
              <a:t>      "case": "ACCUSATIVE"</a:t>
            </a:r>
            <a:br>
              <a:rPr sz="1600" dirty="0"/>
            </a:br>
            <a:r>
              <a:rPr sz="1600" dirty="0"/>
              <a:t>    },</a:t>
            </a:r>
            <a:br>
              <a:rPr sz="1600" dirty="0"/>
            </a:br>
            <a:r>
              <a:rPr sz="1600" dirty="0"/>
              <a:t>    "dependency": {</a:t>
            </a:r>
            <a:br>
              <a:rPr sz="1600" dirty="0"/>
            </a:br>
            <a:r>
              <a:rPr sz="1600" dirty="0"/>
              <a:t>      "</a:t>
            </a:r>
            <a:r>
              <a:rPr sz="1600" dirty="0" err="1"/>
              <a:t>head_token_id</a:t>
            </a:r>
            <a:r>
              <a:rPr sz="1600" dirty="0"/>
              <a:t>": 3,</a:t>
            </a:r>
            <a:br>
              <a:rPr sz="1600" dirty="0"/>
            </a:br>
            <a:r>
              <a:rPr sz="1600" dirty="0"/>
              <a:t>      "relation": "OBJECT"</a:t>
            </a:r>
            <a:br>
              <a:rPr sz="1600" dirty="0"/>
            </a:br>
            <a:r>
              <a:rPr sz="1600" dirty="0"/>
              <a:t>    }</a:t>
            </a:r>
            <a:br>
              <a:rPr sz="1600" dirty="0"/>
            </a:br>
            <a:r>
              <a:rPr sz="1600" dirty="0"/>
              <a:t>  }</a:t>
            </a:r>
            <a:br>
              <a:rPr sz="1600" dirty="0"/>
            </a:br>
            <a:r>
              <a:rPr sz="1600" dirty="0"/>
              <a:t>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3600" b="1" i="0">
                <a:solidFill>
                  <a:srgbClr val="0F2043"/>
                </a:solidFill>
                <a:latin typeface="Segoe UI"/>
              </a:defRPr>
            </a:pPr>
            <a:r>
              <a:t>3. Recommended Full-Stack Architecture</a:t>
            </a:r>
          </a:p>
          <a:p>
            <a:pPr algn="l">
              <a:defRPr sz="1800" b="0" i="0">
                <a:solidFill>
                  <a:srgbClr val="4A5568"/>
                </a:solidFill>
                <a:latin typeface="Segoe UI"/>
              </a:defRPr>
            </a:pPr>
            <a:r>
              <a:t>FastAPI backend, React.js frontend, PostgreSQL, and Firebase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rPr dirty="0"/>
              <a:t>3. Recommended Full-Stack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1. Frontend Layer: </a:t>
            </a:r>
            <a:r>
              <a:rPr sz="1400" b="0">
                <a:solidFill>
                  <a:srgbClr val="4A5568"/>
                </a:solidFill>
                <a:latin typeface="Segoe UI"/>
              </a:rPr>
              <a:t>React.js + TypeScript + Tailwind CSS for a modern, responsive, and interactive crowdsourcing layout.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2. Backend Layer: </a:t>
            </a:r>
            <a:r>
              <a:rPr sz="1400" b="0">
                <a:solidFill>
                  <a:srgbClr val="4A5568"/>
                </a:solidFill>
                <a:latin typeface="Segoe UI"/>
              </a:rPr>
              <a:t>FastAPI (Python) as a high-performance RESTful API mediator for business logic.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3. Relational Database: </a:t>
            </a:r>
            <a:r>
              <a:rPr sz="1400" b="0">
                <a:solidFill>
                  <a:srgbClr val="4A5568"/>
                </a:solidFill>
                <a:latin typeface="Segoe UI"/>
              </a:rPr>
              <a:t>PostgreSQL for strongly-typed relational and JSONB schemas.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4. Object Storage: </a:t>
            </a:r>
            <a:r>
              <a:rPr sz="1400" b="0">
                <a:solidFill>
                  <a:srgbClr val="4A5568"/>
                </a:solidFill>
                <a:latin typeface="Segoe UI"/>
              </a:rPr>
              <a:t>Firebase for secure, real-time metadata and audio recording file storage.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Security &amp; Control: </a:t>
            </a:r>
            <a:r>
              <a:rPr sz="1400" b="0">
                <a:solidFill>
                  <a:srgbClr val="4A5568"/>
                </a:solidFill>
                <a:latin typeface="Segoe UI"/>
              </a:rPr>
              <a:t>Features a modular request-response cycle wrapping security checks and export controllers.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1371600"/>
            <a:ext cx="5635752" cy="482409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71600"/>
            <a:ext cx="5635752" cy="46976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3.1 End-to-End Request Flow (6 Stages)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Stage 1: User Access — </a:t>
            </a:r>
            <a:r>
              <a:rPr sz="1400" b="0">
                <a:solidFill>
                  <a:srgbClr val="4A5568"/>
                </a:solidFill>
                <a:latin typeface="Segoe UI"/>
              </a:rPr>
              <a:t>Contributor opens the web portal, displaying the available translation, tagging, or recording tasks.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Stage 2: Frontend (React.js) — </a:t>
            </a:r>
            <a:r>
              <a:rPr sz="1400" b="0">
                <a:solidFill>
                  <a:srgbClr val="4A5568"/>
                </a:solidFill>
                <a:latin typeface="Segoe UI"/>
              </a:rPr>
              <a:t>The UI dynamically loads state, accepts input, and captures metadata (audio files, coordinates, dialect variants).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Stage 3: HTTPS Request — </a:t>
            </a:r>
            <a:r>
              <a:rPr sz="1400" b="0">
                <a:solidFill>
                  <a:srgbClr val="4A5568"/>
                </a:solidFill>
                <a:latin typeface="Segoe UI"/>
              </a:rPr>
              <a:t>The client application triggers secure HTTP calls utilizing Axios to backend routing endpoints.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Stage 4: Backend (FastAPI) — </a:t>
            </a:r>
            <a:r>
              <a:rPr sz="1400" b="0">
                <a:solidFill>
                  <a:srgbClr val="4A5568"/>
                </a:solidFill>
                <a:latin typeface="Segoe UI"/>
              </a:rPr>
              <a:t>FastAPI middleware processes JWT tokens, verifies authorization, and validates the request body schema.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Stage 5: Database Operations — </a:t>
            </a:r>
            <a:r>
              <a:rPr sz="1400" b="0">
                <a:solidFill>
                  <a:srgbClr val="4A5568"/>
                </a:solidFill>
                <a:latin typeface="Segoe UI"/>
              </a:rPr>
              <a:t>The backend initiates transactions to write rows, update scores, or save JSONB fields in PostgreSQL.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Stage 6: Response — </a:t>
            </a:r>
            <a:r>
              <a:rPr sz="1400" b="0">
                <a:solidFill>
                  <a:srgbClr val="4A5568"/>
                </a:solidFill>
                <a:latin typeface="Segoe UI"/>
              </a:rPr>
              <a:t>FastAPI returns structured JSON metadata. The UI updates dynamically and increments the user's trust score.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Frontend &amp; Backend Layer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 i="0">
                <a:solidFill>
                  <a:srgbClr val="0F2043"/>
                </a:solidFill>
                <a:latin typeface="Segoe UI"/>
              </a:defRPr>
            </a:pPr>
            <a:r>
              <a:t>3.2 Frontend Layer (React.js + TypeScript)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4A5568"/>
                </a:solidFill>
                <a:latin typeface="Segoe UI"/>
              </a:rPr>
              <a:t>Secure login and registration with dialect profiling.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4A5568"/>
                </a:solidFill>
                <a:latin typeface="Segoe UI"/>
              </a:rPr>
              <a:t>Gamified contributor dashboard with real-time trust metrics.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4A5568"/>
                </a:solidFill>
                <a:latin typeface="Segoe UI"/>
              </a:rPr>
              <a:t>Annotation interface featuring syntax tagging and Web Audio API recording.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4A5568"/>
                </a:solidFill>
                <a:latin typeface="Segoe UI"/>
              </a:rPr>
              <a:t>Verification panel showing peer contributions side-by-side for review.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4A5568"/>
                </a:solidFill>
                <a:latin typeface="Segoe UI"/>
              </a:rPr>
              <a:t>Dataset export console for admin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 i="0">
                <a:solidFill>
                  <a:srgbClr val="0F2043"/>
                </a:solidFill>
                <a:latin typeface="Segoe UI"/>
              </a:defRPr>
            </a:pPr>
            <a:r>
              <a:t>3.3 Backend Layer (FastAPI / Python)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4A5568"/>
                </a:solidFill>
                <a:latin typeface="Segoe UI"/>
              </a:rPr>
              <a:t>High-performance processing utilizing Python async features.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4A5568"/>
                </a:solidFill>
                <a:latin typeface="Segoe UI"/>
              </a:rPr>
              <a:t>Role-Based Access Control (RBAC) separating contributors, reviewers, and admins.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4A5568"/>
                </a:solidFill>
                <a:latin typeface="Segoe UI"/>
              </a:rPr>
              <a:t>Pydantic models for strict static request/response validation.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4A5568"/>
                </a:solidFill>
                <a:latin typeface="Segoe UI"/>
              </a:rPr>
              <a:t>Audio handling endpoints parsing raw blobs, converting formats, and shipping to Firebase.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4A5568"/>
                </a:solidFill>
                <a:latin typeface="Segoe UI"/>
              </a:rPr>
              <a:t>Auto-generating Swagger/OpenAPI documentation directly from python scripts.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3.4 Database Split &amp; 3.5 Security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 i="0">
                <a:solidFill>
                  <a:srgbClr val="0F2043"/>
                </a:solidFill>
                <a:latin typeface="Segoe UI"/>
              </a:defRPr>
            </a:pPr>
            <a:r>
              <a:t>Data Storage Split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Stores</a:t>
                      </a:r>
                    </a:p>
                  </a:txBody>
                  <a:tcPr>
                    <a:solidFill>
                      <a:srgbClr val="DC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Structured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Users, languages, phrases, translations, annotations, verification records, dialects,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Files &amp; Real-time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Firebase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 i="0">
                          <a:solidFill>
                            <a:srgbClr val="0F2043"/>
                          </a:solidFill>
                          <a:latin typeface="Segoe UI"/>
                        </a:defRPr>
                      </a:pPr>
                      <a:r>
                        <a:t>Audio recordings, source documents, raw assets, authentication tokens, real-time sync states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 i="0">
                <a:solidFill>
                  <a:srgbClr val="0F2043"/>
                </a:solidFill>
                <a:latin typeface="Segoe UI"/>
              </a:defRPr>
            </a:pPr>
            <a:r>
              <a:t>Security Protections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JWT: </a:t>
            </a:r>
            <a:r>
              <a:rPr sz="1400" b="0">
                <a:solidFill>
                  <a:srgbClr val="4A5568"/>
                </a:solidFill>
                <a:latin typeface="Segoe UI"/>
              </a:rPr>
              <a:t>Token-based user authentication verifying identity across API boundaries.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SSL: </a:t>
            </a:r>
            <a:r>
              <a:rPr sz="1400" b="0">
                <a:solidFill>
                  <a:srgbClr val="4A5568"/>
                </a:solidFill>
                <a:latin typeface="Segoe UI"/>
              </a:rPr>
              <a:t>SSL/TLS encrypted transport covering all HTTP endpoints and database calls.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RBAC: </a:t>
            </a:r>
            <a:r>
              <a:rPr sz="1400" b="0">
                <a:solidFill>
                  <a:srgbClr val="4A5568"/>
                </a:solidFill>
                <a:latin typeface="Segoe UI"/>
              </a:rPr>
              <a:t>Fine-grained permissions defining what a contributor vs. reviewer can perform.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Validation: </a:t>
            </a:r>
            <a:r>
              <a:rPr sz="1400" b="0">
                <a:solidFill>
                  <a:srgbClr val="4A5568"/>
                </a:solidFill>
                <a:latin typeface="Segoe UI"/>
              </a:rPr>
              <a:t>Pydantic-based payload sanitation preventing SQL Injection and script execution.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600" b="1" i="0">
                <a:solidFill>
                  <a:srgbClr val="0F2043"/>
                </a:solidFill>
                <a:latin typeface="Segoe UI"/>
              </a:defRPr>
            </a:pPr>
            <a:r>
              <a:t>3.6 Dataset Export &amp; Intelligent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NLP &amp; Digital Preservation Annotation Platform  |  Phase 1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 i="0">
                <a:solidFill>
                  <a:srgbClr val="0F2043"/>
                </a:solidFill>
                <a:latin typeface="Segoe UI"/>
              </a:defRPr>
            </a:pPr>
            <a:r>
              <a:t>Dataset Export Formats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CSV Format: </a:t>
            </a:r>
            <a:r>
              <a:rPr sz="1400" b="0">
                <a:solidFill>
                  <a:srgbClr val="4A5568"/>
                </a:solidFill>
                <a:latin typeface="Segoe UI"/>
              </a:rPr>
              <a:t>Exports processed translation pairs and dialect metadata directly to comma-separated files.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JSON Format: </a:t>
            </a:r>
            <a:r>
              <a:rPr sz="1400" b="0">
                <a:solidFill>
                  <a:srgbClr val="4A5568"/>
                </a:solidFill>
                <a:latin typeface="Segoe UI"/>
              </a:rPr>
              <a:t>Outputs raw hierarchical syntax trees, POS classifications, and complex morphology mappings.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Parquet Format: </a:t>
            </a:r>
            <a:r>
              <a:rPr sz="1400" b="0">
                <a:solidFill>
                  <a:srgbClr val="4A5568"/>
                </a:solidFill>
                <a:latin typeface="Segoe UI"/>
              </a:rPr>
              <a:t>Highly compressed, columnar data structures optimized for training large language models (LLMs).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Filtering: </a:t>
            </a:r>
            <a:r>
              <a:rPr sz="1400" b="0">
                <a:solidFill>
                  <a:srgbClr val="4A5568"/>
                </a:solidFill>
                <a:latin typeface="Segoe UI"/>
              </a:rPr>
              <a:t>Admins can filter by minimum verification score, language variant, and contributor reliability.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 i="0">
                <a:solidFill>
                  <a:srgbClr val="0F2043"/>
                </a:solidFill>
                <a:latin typeface="Segoe UI"/>
              </a:defRPr>
            </a:pPr>
            <a:r>
              <a:t>Future Intelligent Features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Translation AI: </a:t>
            </a:r>
            <a:r>
              <a:rPr sz="1400" b="0">
                <a:solidFill>
                  <a:srgbClr val="4A5568"/>
                </a:solidFill>
                <a:latin typeface="Segoe UI"/>
              </a:rPr>
              <a:t>Building sequence-to-sequence translation models between Assamese, Bodo, and English.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Auto-Annotation: </a:t>
            </a:r>
            <a:r>
              <a:rPr sz="1400" b="0">
                <a:solidFill>
                  <a:srgbClr val="4A5568"/>
                </a:solidFill>
                <a:latin typeface="Segoe UI"/>
              </a:rPr>
              <a:t>Using morphology annotations to suggest POS tags automatically on user uploads.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Speech Recognition: </a:t>
            </a:r>
            <a:r>
              <a:rPr sz="1400" b="0">
                <a:solidFill>
                  <a:srgbClr val="4A5568"/>
                </a:solidFill>
                <a:latin typeface="Segoe UI"/>
              </a:rPr>
              <a:t>Developing custom Speech-to-Text and Text-to-Speech voices with local dialect accents.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F2043"/>
                </a:solidFill>
                <a:latin typeface="Segoe UI"/>
              </a:rPr>
              <a:t>Digital Preservation: </a:t>
            </a:r>
            <a:r>
              <a:rPr sz="1400" b="0">
                <a:solidFill>
                  <a:srgbClr val="4A5568"/>
                </a:solidFill>
                <a:latin typeface="Segoe UI"/>
              </a:rPr>
              <a:t>Cataloging and preserving oral-only languages (Karbi, Dimasa) before lexical decay occurs.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2494</Words>
  <Application>Microsoft Office PowerPoint</Application>
  <PresentationFormat>Widescreen</PresentationFormat>
  <Paragraphs>277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Riddhi_man</cp:lastModifiedBy>
  <cp:revision>5</cp:revision>
  <dcterms:created xsi:type="dcterms:W3CDTF">2013-01-27T09:14:16Z</dcterms:created>
  <dcterms:modified xsi:type="dcterms:W3CDTF">2026-07-01T05:11:25Z</dcterms:modified>
  <cp:category/>
</cp:coreProperties>
</file>